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4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E7336-16E6-4EBF-B075-62CE81769962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C87F-3D20-4DE5-A080-550AF32BB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06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E7336-16E6-4EBF-B075-62CE81769962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C87F-3D20-4DE5-A080-550AF32BB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494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E7336-16E6-4EBF-B075-62CE81769962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C87F-3D20-4DE5-A080-550AF32BB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717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E7336-16E6-4EBF-B075-62CE81769962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C87F-3D20-4DE5-A080-550AF32BB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452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E7336-16E6-4EBF-B075-62CE81769962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C87F-3D20-4DE5-A080-550AF32BB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915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E7336-16E6-4EBF-B075-62CE81769962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C87F-3D20-4DE5-A080-550AF32BB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174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E7336-16E6-4EBF-B075-62CE81769962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C87F-3D20-4DE5-A080-550AF32BB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928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E7336-16E6-4EBF-B075-62CE81769962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C87F-3D20-4DE5-A080-550AF32BB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860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E7336-16E6-4EBF-B075-62CE81769962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C87F-3D20-4DE5-A080-550AF32BB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297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E7336-16E6-4EBF-B075-62CE81769962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C87F-3D20-4DE5-A080-550AF32BB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29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E7336-16E6-4EBF-B075-62CE81769962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C87F-3D20-4DE5-A080-550AF32BB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164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E7336-16E6-4EBF-B075-62CE81769962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C87F-3D20-4DE5-A080-550AF32BBF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9053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E7336-16E6-4EBF-B075-62CE81769962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C87F-3D20-4DE5-A080-550AF32BB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738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E7336-16E6-4EBF-B075-62CE81769962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C87F-3D20-4DE5-A080-550AF32BB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271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E7336-16E6-4EBF-B075-62CE81769962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C87F-3D20-4DE5-A080-550AF32BB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177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E7336-16E6-4EBF-B075-62CE81769962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C87F-3D20-4DE5-A080-550AF32BB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5121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E7336-16E6-4EBF-B075-62CE81769962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C87F-3D20-4DE5-A080-550AF32BB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627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A3E7336-16E6-4EBF-B075-62CE81769962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1C87F-3D20-4DE5-A080-550AF32BBF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1299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books.toscrape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284CC-3B3F-7443-DB03-174F71D35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91839"/>
            <a:ext cx="9144000" cy="66118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6000" b="1" dirty="0"/>
              <a:t>Capstone Project – Web Scaping and Machine Learning Project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2BFB5-EDB7-BB7F-8604-F105C0420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64036"/>
            <a:ext cx="9144000" cy="1093763"/>
          </a:xfrm>
        </p:spPr>
        <p:txBody>
          <a:bodyPr/>
          <a:lstStyle/>
          <a:p>
            <a:pPr lvl="0" algn="r"/>
            <a:r>
              <a:rPr lang="en-IN" b="1" dirty="0"/>
              <a:t>Rohinth Shanmugasundaram</a:t>
            </a:r>
            <a:endParaRPr lang="en-IN" dirty="0"/>
          </a:p>
          <a:p>
            <a:pPr lvl="0" algn="r"/>
            <a:r>
              <a:rPr lang="en-IN" b="1" dirty="0"/>
              <a:t>DADS AUG 2025 Batch B</a:t>
            </a:r>
            <a:endParaRPr lang="en-IN" dirty="0"/>
          </a:p>
          <a:p>
            <a:pPr algn="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1622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09102-EF8F-409C-948B-8D6BAA3B9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1E612-DDA9-A896-40A2-6587AC5B9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This project focuses on applying data science and machine learning techniques to analyse product data collected from an e-commerce platform. </a:t>
            </a:r>
          </a:p>
          <a:p>
            <a:pPr algn="just"/>
            <a:r>
              <a:rPr lang="en-IN" dirty="0"/>
              <a:t>The objective was to understand patterns in pricing, ratings, and product categories.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5485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4901E-CE5B-98B3-05C9-E820B0DF2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Overview: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7EC1D-41EE-2EDD-2D52-FABC5A3B5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u="sng" dirty="0"/>
              <a:t>Key variables analysed included</a:t>
            </a:r>
          </a:p>
          <a:p>
            <a:pPr lvl="0"/>
            <a:r>
              <a:rPr lang="en-IN" dirty="0"/>
              <a:t>product price, </a:t>
            </a:r>
          </a:p>
          <a:p>
            <a:pPr lvl="0"/>
            <a:r>
              <a:rPr lang="en-IN" dirty="0"/>
              <a:t>rating, and </a:t>
            </a:r>
          </a:p>
          <a:p>
            <a:pPr lvl="0"/>
            <a:r>
              <a:rPr lang="en-IN" dirty="0"/>
              <a:t>category. </a:t>
            </a:r>
          </a:p>
          <a:p>
            <a:pPr marL="0" indent="0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dirty="0"/>
              <a:t>Unsupervised learning was used to identify natural groupings in the data, while supervised learning was applied to predict product categories. Multiple models were evaluated and compared using accuracy and F1-score.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9490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08A9F-6696-EB1B-708A-7D777E11D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Web Scraping: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3EF6D-2683-F313-0580-826719A9E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Product data was collected from a publicly available e-commerce test website using Python libraries such as </a:t>
            </a:r>
            <a:r>
              <a:rPr lang="en-IN" u="sng" dirty="0"/>
              <a:t>Requests and Beautiful Soup</a:t>
            </a:r>
            <a:r>
              <a:rPr lang="en-IN" dirty="0"/>
              <a:t>. The scraped attributes included product name, price, category, and rating. </a:t>
            </a:r>
          </a:p>
          <a:p>
            <a:pPr algn="just"/>
            <a:r>
              <a:rPr lang="en-IN" dirty="0"/>
              <a:t>Used – </a:t>
            </a:r>
            <a:r>
              <a:rPr lang="en-IN" u="sng" dirty="0">
                <a:hlinkClick r:id="rId2"/>
              </a:rPr>
              <a:t>https://books.toscrape.com/</a:t>
            </a:r>
            <a:r>
              <a:rPr lang="en-IN" dirty="0"/>
              <a:t> website to pull books across different genre’s or category.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9069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97236-7F7A-1846-E372-68AE12BB6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Cleaning:</a:t>
            </a:r>
            <a:endParaRPr lang="en-IN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37BD41C-3145-45C4-C86A-ADD25CBA8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06363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Data Before Cleaning: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1C20C2-1128-6222-BB88-F7EA6F27A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86049"/>
            <a:ext cx="10515600" cy="237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37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F86E0-8ED0-CA4B-5A01-B812742BD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Cleaning: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A1A4D-461A-59EE-6335-D66E1BEF2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Price values were standardized into numeric format – all the rows the price were in Euros they were stripped from the numeric column</a:t>
            </a:r>
          </a:p>
          <a:p>
            <a:r>
              <a:rPr lang="en-IN" dirty="0"/>
              <a:t>Ratings were mapped into consistent numerical representations. </a:t>
            </a:r>
          </a:p>
          <a:p>
            <a:r>
              <a:rPr lang="en-IN" dirty="0"/>
              <a:t>Duplicate entries and irrelevant records were removed to maintain data integrity. </a:t>
            </a:r>
          </a:p>
        </p:txBody>
      </p:sp>
    </p:spTree>
    <p:extLst>
      <p:ext uri="{BB962C8B-B14F-4D97-AF65-F5344CB8AC3E}">
        <p14:creationId xmlns:p14="http://schemas.microsoft.com/office/powerpoint/2010/main" val="1312306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019F2-8563-23F8-3816-7B266D4D4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ACBCB-449F-9D19-F549-6228B7D90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Cleaning: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43FAC-7276-18F4-3BB1-846AEC5BC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Data After Cleaning:</a:t>
            </a:r>
          </a:p>
          <a:p>
            <a:pPr marL="0" indent="0">
              <a:buNone/>
            </a:pPr>
            <a:endParaRPr lang="en-IN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3F7D10-A17A-B5F6-A896-D0853488B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467769"/>
            <a:ext cx="1051560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761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3234F-6605-7E3B-DD5E-B75C0C3EF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Exploratory Data Analysis (EDA):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1CCE4-BA4D-5D9E-B3A2-7151724FE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EDA revealed that book prices were relatively evenly distributed within a specific range, indicating no extreme outliers.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F52DE6-1F87-2B21-96C6-5B61D5B38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72862"/>
            <a:ext cx="10515600" cy="382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436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E54A7-73CA-630D-E24B-D08C25271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4E8EC-1D9E-D131-2B46-82594B5F9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Exploratory Data Analysis (EDA):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5EEFD-6B5F-8DBA-6877-9060501A4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EDA revealed that book prices were relatively evenly distributed within a specific range, indicating no extreme outliers. 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1B3818-99AC-0764-FE1D-3CD604C7E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99471"/>
            <a:ext cx="10515600" cy="369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80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49F42-C892-2E0F-CD3A-4F03E50F5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Exploratory Data Analysis (EDA):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35997-8BDE-6191-5838-C486C87BC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IN" dirty="0"/>
              <a:t>Book prices are widely distributed across the range, indicating the presence of both low-priced and premium books in the dataset.</a:t>
            </a:r>
          </a:p>
          <a:p>
            <a:pPr lvl="0" algn="just"/>
            <a:r>
              <a:rPr lang="en-IN" dirty="0"/>
              <a:t>There is no strong price concentration, suggesting a relatively balanced pricing strategy across products.</a:t>
            </a:r>
          </a:p>
          <a:p>
            <a:pPr lvl="0" algn="just"/>
            <a:r>
              <a:rPr lang="en-IN" dirty="0"/>
              <a:t>Ratings are fairly evenly distributed from 1 to 5, with no extreme skew toward only high or low ratings.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7907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F5A1A-0689-45A7-0F9B-DC442FE15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Unsupervised Learning: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64B35-F7E7-F496-9C43-86E3093E5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K-Means clustering was used to identify natural groupings based on price and rating. </a:t>
            </a:r>
          </a:p>
          <a:p>
            <a:r>
              <a:rPr lang="en-IN" dirty="0"/>
              <a:t>The elbow method indicated a noticeable reduction in inertia at four clusters, suggesting an optimal clustering structure.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56B1B0-6721-5C0C-7D98-39162407E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05238"/>
            <a:ext cx="10515600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102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E4CF6-8024-5D82-7D35-5BF637D61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65563-D0B7-DAE8-FCC7-80417B42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Unsupervised Learning: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98FD8-6AB1-8524-4772-57DE5A73E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Clusters showed patterns where products were grouped primarily by pricing tiers and rating levels. The analysis indicated that price had a stronger influence on clustering than rating.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B348EA-A6C9-E9D2-3381-C5A6D6FF0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03002"/>
            <a:ext cx="10515600" cy="287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499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FC1DD-C8B4-D236-B0C8-B4E4DDB97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/>
              <a:t>Feature Scaling: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9AA80-B8DF-9AE6-8796-4C160FB95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dirty="0"/>
              <a:t>This step was necessary for algorithms sensitive to feature magnitude, such as K-Means, Logistic Regression, SVM, and KNN. Scaling ensured that no single feature dominated the learning process. </a:t>
            </a:r>
          </a:p>
          <a:p>
            <a:pPr marL="0" indent="0" algn="just">
              <a:buNone/>
            </a:pPr>
            <a:endParaRPr lang="en-IN" dirty="0"/>
          </a:p>
          <a:p>
            <a:pPr lvl="0" algn="just"/>
            <a:r>
              <a:rPr lang="en-IN" dirty="0"/>
              <a:t>The Rating was converted to string for grouping</a:t>
            </a:r>
          </a:p>
          <a:p>
            <a:pPr lvl="0" algn="just"/>
            <a:r>
              <a:rPr lang="en-IN" dirty="0"/>
              <a:t>The category was encoded to numeric for prediction</a:t>
            </a:r>
          </a:p>
          <a:p>
            <a:pPr lvl="0" algn="just"/>
            <a:r>
              <a:rPr lang="en-IN" dirty="0"/>
              <a:t>They were scaled down to unique small-scale values.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3761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9C149-50EE-6ACF-F76C-89255EBD0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Supervised Learning: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FC5C7-817E-56D0-4706-1E514930F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Multiple classification models were implemented to predict product category using price and rating as input features. </a:t>
            </a:r>
          </a:p>
          <a:p>
            <a:pPr marL="0" indent="0">
              <a:buNone/>
            </a:pPr>
            <a:endParaRPr lang="en-IN" dirty="0"/>
          </a:p>
          <a:p>
            <a:pPr lvl="0"/>
            <a:r>
              <a:rPr lang="en-IN" dirty="0"/>
              <a:t>Logistic Regression was applied to examine linear separability and achieved an accuracy of approximately 21% with an F1-score of around 0.14, indicating limited linear relationships between features and categories. </a:t>
            </a:r>
          </a:p>
          <a:p>
            <a:pPr lvl="0"/>
            <a:r>
              <a:rPr lang="en-IN" dirty="0"/>
              <a:t>Support Vector Machine (SVM) explored non-linear boundaries and produced similar performance, with accuracy near 19–22% and F1-scores improving slightly after tuning, suggesting marginal benefits from complex decision boundaries.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9443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FD9EE-5297-3349-BCC4-9B69C17E5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6C518-BD0C-5A6A-5726-F85B5D979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Supervised Learning: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7529B-6033-9431-B129-8FD109CB1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dirty="0"/>
              <a:t>K-Nearest </a:t>
            </a:r>
            <a:r>
              <a:rPr lang="en-IN" dirty="0" err="1"/>
              <a:t>Neighbors</a:t>
            </a:r>
            <a:r>
              <a:rPr lang="en-IN" dirty="0"/>
              <a:t> (KNN) analysed similarity based on feature distance and showed moderate performance, with accuracy around 19–20% and F1-scores near 0.19 after optimization, indicating some improvement when </a:t>
            </a:r>
            <a:r>
              <a:rPr lang="en-IN" dirty="0" err="1"/>
              <a:t>neighborhood</a:t>
            </a:r>
            <a:r>
              <a:rPr lang="en-IN" dirty="0"/>
              <a:t> parameters were tuned. </a:t>
            </a:r>
          </a:p>
          <a:p>
            <a:pPr lvl="0"/>
            <a:r>
              <a:rPr lang="en-IN" dirty="0"/>
              <a:t>Random Forest evaluated non-linear feature interactions through ensemble decision trees and achieved accuracy between 17–18% with F1-scores around 0.17, reflecting stable but limited predictive capability.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4927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AA521-7949-682E-9114-3B338E539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579AF-C0F1-BCE6-0A16-F3D643C9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Supervised Learning: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05804-A1A3-0505-4706-F07BD3E36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dirty="0" err="1"/>
              <a:t>XGBoost</a:t>
            </a:r>
            <a:r>
              <a:rPr lang="en-IN" dirty="0"/>
              <a:t> applied gradient boosting techniques and delivered comparable results, with accuracy close to 18–19% and F1-scores near 0.18, reinforcing that feature informativeness, rather than model complexity, was the primary factor influencing performance.</a:t>
            </a:r>
          </a:p>
          <a:p>
            <a:pPr marL="0" indent="0" algn="just">
              <a:buNone/>
            </a:pPr>
            <a:r>
              <a:rPr lang="en-IN" dirty="0"/>
              <a:t>however, both ensemble models showed only modest gains, reinforcing that limited feature informativeness constrained overall predictive accuracy.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6812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00F2A-8583-D8EB-7B8E-AE61E5BB3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Hyperparameter Tuning: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00C09-9739-842D-5306-F1A79DE46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67828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/>
              <a:t>Grid search was used to optimize parameters for KNN, SVM, and Random Forest models. Tuning resulted in modest improvements in accuracy and F1-score, particularly for KNN and SVM. Random Forest showed more stable performance after optimization. </a:t>
            </a:r>
          </a:p>
          <a:p>
            <a:pPr marL="0" indent="0" algn="just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3702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35B7C-9327-FB78-8B0D-A3EA5C6BC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0733-F5D9-E8CF-BC57-18289BDC8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Hyperparameter Tuning: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17867-01B3-9EDB-B937-88D515A8D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67828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/>
              <a:t>However, improvements were limited, confirming that feature informativeness constrained performance. This step reinforced that tuning enhances stability rather than overcoming weak predictors.</a:t>
            </a:r>
          </a:p>
          <a:p>
            <a:pPr marL="0" indent="0" algn="just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7EF1DD-E4FD-305D-5B24-0486AF1F3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62484"/>
            <a:ext cx="10515599" cy="165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02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1343E-9FF2-BEC6-1154-A5B19DBD1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3023F-C38B-343E-D470-F3BBC061B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The project demonstrated that unsupervised learning was effective in identifying natural groupings within the dataset based on price and rating. </a:t>
            </a:r>
          </a:p>
          <a:p>
            <a:pPr lvl="0"/>
            <a:r>
              <a:rPr lang="en-IN" dirty="0"/>
              <a:t>K-Means clustering revealed meaningful segments, suggesting that these features capture general patterns in product positioning. </a:t>
            </a:r>
          </a:p>
          <a:p>
            <a:pPr lvl="0"/>
            <a:r>
              <a:rPr lang="en-IN" dirty="0"/>
              <a:t>However, supervised learning models showed limited success in predicting product categories, indicating that price and rating alone are weak predictors of labelled outcomes. </a:t>
            </a:r>
          </a:p>
          <a:p>
            <a:pPr lvl="0"/>
            <a:r>
              <a:rPr lang="en-IN" dirty="0"/>
              <a:t>The contrast between the two approaches highlights that while the data contains inherent structure, the selected features were insufficient for accurate classification.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50796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35</TotalTime>
  <Words>853</Words>
  <Application>Microsoft Office PowerPoint</Application>
  <PresentationFormat>Widescreen</PresentationFormat>
  <Paragraphs>63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Ion</vt:lpstr>
      <vt:lpstr>Capstone Project – Web Scaping and Machine Learning Project </vt:lpstr>
      <vt:lpstr>Introduction: </vt:lpstr>
      <vt:lpstr>Project Overview:</vt:lpstr>
      <vt:lpstr>Web Scraping:</vt:lpstr>
      <vt:lpstr>Data Cleaning:</vt:lpstr>
      <vt:lpstr>Data Cleaning:</vt:lpstr>
      <vt:lpstr>Data Cleaning:</vt:lpstr>
      <vt:lpstr>Exploratory Data Analysis (EDA):</vt:lpstr>
      <vt:lpstr>Exploratory Data Analysis (EDA):</vt:lpstr>
      <vt:lpstr>Exploratory Data Analysis (EDA):</vt:lpstr>
      <vt:lpstr>Unsupervised Learning:</vt:lpstr>
      <vt:lpstr>Unsupervised Learning:</vt:lpstr>
      <vt:lpstr> Feature Scaling: </vt:lpstr>
      <vt:lpstr>Supervised Learning: </vt:lpstr>
      <vt:lpstr>Supervised Learning: </vt:lpstr>
      <vt:lpstr>Supervised Learning: </vt:lpstr>
      <vt:lpstr>Hyperparameter Tuning: </vt:lpstr>
      <vt:lpstr>Hyperparameter Tuning: 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Shanmugasundaram, Rohinth</dc:creator>
  <cp:lastModifiedBy>Shanmugasundaram, Rohinth</cp:lastModifiedBy>
  <cp:revision>3</cp:revision>
  <dcterms:created xsi:type="dcterms:W3CDTF">2026-01-30T01:30:58Z</dcterms:created>
  <dcterms:modified xsi:type="dcterms:W3CDTF">2026-01-30T02:06:24Z</dcterms:modified>
</cp:coreProperties>
</file>